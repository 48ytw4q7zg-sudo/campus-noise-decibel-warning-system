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45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校园噪音分贝预警员系统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FF"/>
                </a:solidFill>
                <a:latin typeface="Microsoft YaHei"/>
              </a:defRPr>
            </a:pPr>
            <a:r>
              <a:t>基于"业务规则 &gt; 算法"的动态阈值噪声异常检测研究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35"/>
                </a:solidFill>
                <a:latin typeface="Microsoft YaHei"/>
              </a:defRPr>
            </a:pPr>
            <a:r>
              <a:t>结  题  汇  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课题类型：校园噪音分贝预警（规则+异常检测类）</a:t>
            </a:r>
          </a:p>
          <a:p>
            <a:pPr>
              <a:spcAft>
                <a:spcPts val="300"/>
              </a:spcAft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研究工具：Python (Pandas + Matplotlib + NumPy)  +  Orange (Outliers) 备选验证</a:t>
            </a:r>
          </a:p>
          <a:p>
            <a:pPr>
              <a:spcAft>
                <a:spcPts val="300"/>
              </a:spcAft>
              <a:defRPr sz="1500" b="0">
                <a:solidFill>
                  <a:srgbClr val="CCD6E0"/>
                </a:solidFill>
                <a:latin typeface="Microsoft YaHei"/>
              </a:defRPr>
            </a:pPr>
            <a:r>
              <a:t>数据规模：142条校园多地点噪声监测记录 × 4大功能区 × 6个时段</a:t>
            </a:r>
          </a:p>
          <a:p>
            <a:pPr>
              <a:spcAft>
                <a:spcPts val="300"/>
              </a:spcAft>
              <a:defRPr sz="1500" b="0">
                <a:solidFill>
                  <a:srgbClr val="FF6B35"/>
                </a:solidFill>
                <a:latin typeface="Microsoft YaHei"/>
              </a:defRPr>
            </a:pPr>
            <a:r>
              <a:t>核心成果：混合动态阈值模型 — 准确率 92.6% / F1 91.2% / 误报率 4.0%</a:t>
            </a:r>
          </a:p>
          <a:p>
            <a:pPr>
              <a:spcAft>
                <a:spcPts val="300"/>
              </a:spcAft>
              <a:defRPr sz="8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7A8B9E"/>
                </a:solidFill>
                <a:latin typeface="Microsoft YaHei"/>
              </a:defRPr>
            </a:pPr>
            <a:r>
              <a:t>汇报日期：2026年6月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18页 · 8大板块 · 从研究背景到系统实现到结论展望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88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234440"/>
            <a:ext cx="27432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2070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校园噪声污染现状、传统固定阈值弊端、研究价值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47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5D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892808"/>
            <a:ext cx="27432" cy="320040"/>
          </a:xfrm>
          <a:prstGeom prst="rect">
            <a:avLst/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847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理论基础与核心难点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86537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噪声分贝标准、动态阈值理论、核心设计理念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0545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551176"/>
            <a:ext cx="27432" cy="3200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25054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数据集构建与预处理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52374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142条数据 × 4功能区 × 4字段 × 6时段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638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3209544"/>
            <a:ext cx="27432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31638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动态阈值模型设计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1821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三种模型详解：业务规则 → 统计自适应 → 混合最优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2219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3867911"/>
            <a:ext cx="27432" cy="320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38221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系统实现与核心代码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8404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Python 一站式：预处理 + 阈值计算 + 异常检测 + 可视化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8055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24B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4526279"/>
            <a:ext cx="27432" cy="320040"/>
          </a:xfrm>
          <a:prstGeom prst="rect">
            <a:avLst/>
          </a:prstGeom>
          <a:solidFill>
            <a:srgbClr val="A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4480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实验验证与结果分析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498847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6模型 × 5指标 × 4功能区 × 5折交叉验证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389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5184648"/>
            <a:ext cx="27432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7360" y="51389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研究总结与展望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515721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4项核心成果 + 局限分析 + 改进方向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79729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A8B9E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08760" y="5843016"/>
            <a:ext cx="27432" cy="320040"/>
          </a:xfrm>
          <a:prstGeom prst="rect">
            <a:avLst/>
          </a:prstGeom>
          <a:solidFill>
            <a:srgbClr val="7A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37360" y="5797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致谢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581558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参考文献 + 核心数据回顾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校园噪声污染的严峻挑战与精准预警的迫切需求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3035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  <a:latin typeface="Microsoft YaHei"/>
              </a:defRPr>
            </a:pPr>
            <a:r>
              <a:t>⚠  校园噪声污染现状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●  噪声来源多样性：教学活动、体育训练、食堂就餐、外部交通等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●  时空异质性显著：不同功能区噪声特征完全不同</a:t>
            </a:r>
          </a:p>
          <a:p>
            <a:pPr>
              <a:spcAft>
                <a:spcPts val="300"/>
              </a:spcAft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    ·  图书馆需绝对安静（参考标准 ≤40dB）</a:t>
            </a:r>
          </a:p>
          <a:p>
            <a:pPr>
              <a:spcAft>
                <a:spcPts val="300"/>
              </a:spcAft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    ·  操场允许高强度活动噪声（活动时段 ≤70dB）</a:t>
            </a:r>
          </a:p>
          <a:p>
            <a:pPr>
              <a:spcAft>
                <a:spcPts val="300"/>
              </a:spcAft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    ·  食堂用餐/非用餐时段噪声波动剧烈</a:t>
            </a:r>
          </a:p>
          <a:p>
            <a:pPr>
              <a:spcAft>
                <a:spcPts val="300"/>
              </a:spcAft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    ·  宿舍需严格区分昼间活动与夜间休息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FF475C"/>
                </a:solidFill>
                <a:latin typeface="Microsoft YaHei"/>
              </a:defRPr>
            </a:pPr>
            <a:r>
              <a:t>●  传统固定阈值（GB 3096-2008：昼55dB/夜45dB）的致命缺陷：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  ✗  安静区域频繁误报 — 将正常翻书声误判为异常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  ✗  嘈杂区域大量漏报 — 无法识别超出合理范围的突发高噪声</a:t>
            </a:r>
          </a:p>
          <a:p>
            <a:pPr>
              <a:spcAft>
                <a:spcPts val="300"/>
              </a:spcAft>
              <a:defRPr sz="1200" b="0">
                <a:solidFill>
                  <a:srgbClr val="FF475C"/>
                </a:solidFill>
                <a:latin typeface="Microsoft YaHei"/>
              </a:defRPr>
            </a:pPr>
            <a:r>
              <a:t>    ✗  误报率高达 25%，无法满足精准预警需求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●  长期高噪声暴露 → 损害听力健康 + 降低学习注意力 + 干扰教学秩序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486400" cy="237744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Microsoft YaHei"/>
              </a:defRPr>
            </a:pPr>
            <a:r>
              <a:t>✦  研究意义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学术意义：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·  突破固定阈值刚性局限，构建动态阈值理论框架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·  量化验证"业务规则 &gt; 算法"核心理念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·  丰富校园环境监测领域的研究成果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实践意义：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·  为校园管理者提供精准的噪声异常识别与预警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·  开发可落地的"监测→预警→处置"闭环方案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·  助力优化校园声环境，保障教学与休息秩序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486400" cy="265176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📊  关键研究指标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206240"/>
            <a:ext cx="1554480" cy="9601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297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  <a:latin typeface="Microsoft YaHei"/>
              </a:defRPr>
            </a:pPr>
            <a:r>
              <a:t>142条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709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原始数据记录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206240"/>
            <a:ext cx="1554480" cy="9601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297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76"/>
                </a:solidFill>
                <a:latin typeface="Microsoft YaHei"/>
              </a:defRPr>
            </a:pPr>
            <a:r>
              <a:t>4大功能区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709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图书馆·食堂·操场·宿舍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59" y="4206240"/>
            <a:ext cx="1554480" cy="9601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19" y="4297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Microsoft YaHei"/>
              </a:defRPr>
            </a:pPr>
            <a:r>
              <a:t>92.6%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19" y="47091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最佳模型准确率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19" y="491947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Microsoft YaHei"/>
              </a:defRPr>
            </a:pPr>
            <a:r>
              <a:t>+14.6pp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5303520"/>
            <a:ext cx="1554480" cy="9601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3949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76"/>
                </a:solidFill>
                <a:latin typeface="Microsoft YaHei"/>
              </a:defRPr>
            </a:pPr>
            <a:r>
              <a:t>4.0%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806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最低误报率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601675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475C"/>
                </a:solidFill>
                <a:latin typeface="Microsoft YaHei"/>
              </a:defRPr>
            </a:pPr>
            <a:r>
              <a:t>-60.7%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5303520"/>
            <a:ext cx="1554480" cy="9601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3949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B35"/>
                </a:solidFill>
                <a:latin typeface="Microsoft YaHei"/>
              </a:defRPr>
            </a:pPr>
            <a:r>
              <a:t>70%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5806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业务规则贡献度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601675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475C"/>
                </a:solidFill>
                <a:latin typeface="Microsoft YaHei"/>
              </a:defRPr>
            </a:pPr>
            <a:r>
              <a:t>vs 算法30%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59" y="5303520"/>
            <a:ext cx="1554480" cy="9601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19" y="53949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24BFF"/>
                </a:solidFill>
                <a:latin typeface="Microsoft YaHei"/>
              </a:defRPr>
            </a:pPr>
            <a:r>
              <a:t>91.2%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19" y="58064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F1综合得分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19" y="601675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Microsoft YaHei"/>
              </a:defRPr>
            </a:pPr>
            <a:r>
              <a:t>+23.8pp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理论基础与核心难点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"为什么图书馆&gt;50dB算异常，而操场&gt;70dB才算异常？"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Microsoft YaHei"/>
              </a:defRPr>
            </a:pPr>
            <a:r>
              <a:t>📐  噪声分贝标准参考（GB 3096-2008）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08760"/>
          <a:ext cx="62636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960120"/>
                <a:gridCol w="210312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分贝范围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(dB(A))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人体感受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典型校园场景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噪声容忍度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阈值策略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0  ~  30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极安静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图书馆阅览室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严格基线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30 ~ 50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安静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图书馆 / 宿舍夜间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严格要求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50 ~ 70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一般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食堂 / 教学楼上课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适度放宽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70 ~ 85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较吵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操场活动时段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较低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大幅放宽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&gt; 85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有害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突发施工 / 大型活动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极低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立即预警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75120" y="1097280"/>
            <a:ext cx="5029200" cy="237744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🎯  核心难点：动态阈值设计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50876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"为什么图书馆 &gt; 50dB 算异常，而操场 &gt; 70dB 才算异常？"</a:t>
            </a:r>
          </a:p>
          <a:p>
            <a:pPr>
              <a:spcAft>
                <a:spcPts val="300"/>
              </a:spcAft>
              <a:defRPr sz="4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本质原因：不同功能区的"噪声容忍度"差异源于场景业务属性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▸ 图书馆核心功能 = 学习阅读 → 对噪声敏感度极高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    轻微噪声（&gt;50dB）即会干扰专注度 → 需设定较低异常阈值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▸ 操场核心功能 = 体育活动 → 高噪声容忍度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    ≤70dB 属正常活动范畴，超出才需预警 → 需设定较高阈值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关键挑战：如何将这种场景语义 → 可量化、可执行的动态阈值规则？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11155680" cy="25603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  <a:latin typeface="Microsoft YaHei"/>
              </a:defRPr>
            </a:pPr>
            <a:r>
              <a:t>💡  核心理念："业务规则 &gt; 算法"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校园噪声的"正常/异常"判定 ≠ 单纯分贝数值高低，而是由 "分贝值 + 场景业务逻辑" 共同决定</a:t>
            </a:r>
          </a:p>
          <a:p>
            <a:pPr>
              <a:spcAft>
                <a:spcPts val="300"/>
              </a:spcAft>
              <a:defRPr sz="4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纯算法（LOF / 孤立森林等）的局限：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✗  仅基于数据统计特征识别"数值异常"，无法区分"场景正常的数值波动"与"真实干扰性噪声"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✗  会将图书馆 45-50dB 的正常翻书声误判为异常（误报）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✗  会漏判操场 70-75dB 的轻微异常噪声（漏报）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业务规则的优势：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✓  通过"功能区 × 时段"二维语义约束，精准过滤正常波动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✓  仅识别真正影响校园秩序的噪声异常</a:t>
            </a:r>
          </a:p>
          <a:p>
            <a:pPr>
              <a:spcAft>
                <a:spcPts val="3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  ✓  量化实验证明：业务规则贡献 ~70% 性能提升，算法优化仅贡献 ~30%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数据集构建与预处理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142条校园多地点噪声监测数据 × 4维度 × 5步预处理流程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📋  数据字段规格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256032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字段名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数据类型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取值范围/示例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time_point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datetime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噪声记录时间点（精确到分钟）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2025-10-26 08:30:00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监测地点（四大功能区）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图书馆 / 食堂 / 操场 / 宿舍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decibel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A计权噪声分贝值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35.2 ~ 85.7 dB(A)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label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人工标注（正常/干扰）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正常 / 干扰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Microsoft YaHei"/>
              </a:defRPr>
            </a:pPr>
            <a:r>
              <a:t>🔬  采集方式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4173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设备：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GB/T 3785.1-2010标准 1级精度声级计</a:t>
            </a:r>
          </a:p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布点：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每功能区 2-3 个监测点</a:t>
            </a:r>
          </a:p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频率：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1次 / 10分钟</a:t>
            </a:r>
          </a:p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周期：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连续采集 7天（工作日 + 周末，昼间 + 夜间）</a:t>
            </a:r>
          </a:p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标注：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3名专业人员"场景适配"原则标注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D700"/>
                </a:solidFill>
                <a:latin typeface="Microsoft YaHei"/>
              </a:defRPr>
            </a:pPr>
            <a:r>
              <a:t>一致性：</a:t>
            </a:r>
          </a:p>
          <a:p>
            <a:pPr>
              <a:spcAft>
                <a:spcPts val="300"/>
              </a:spcAft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标注一致性 &gt; 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📊  各功能区噪声统计特征（原始 142 条）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291840"/>
          <a:ext cx="7086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功能区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样本量(条)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平均分贝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(dB(A))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标准差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(dB(A))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最高分贝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(dB(A))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最低分贝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(dB(A))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异常占比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(%)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图书馆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48.3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6.7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62.5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35.2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18.4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食堂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63.8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78.4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47.1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27.8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操场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68.9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9.5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85.7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52.3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32.4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宿舍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51.2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7.4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72.1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38.5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20.6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整体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57.6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10.3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85.7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35.2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24.6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394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Microsoft YaHei"/>
              </a:defRPr>
            </a:pPr>
            <a:r>
              <a:t>⚙  5步预处理流水线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Microsoft YaHei"/>
              </a:defRPr>
            </a:pPr>
            <a:r>
              <a:t>① 时间戳转换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76072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string → datetime，提取6个时段标签（早读/上课/课间/午休/晚自修/夜间静校）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01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95DB"/>
                </a:solidFill>
                <a:latin typeface="Microsoft YaHei"/>
              </a:defRPr>
            </a:pPr>
            <a:r>
              <a:t>② 缺失值处理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98017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3条缺失值（均为decibel字段），按"功能区+时段"分组均值填充，避免跨场景误差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99631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Microsoft YaHei"/>
              </a:defRPr>
            </a:pPr>
            <a:r>
              <a:t>③ 异常值剔除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6199631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IQR法（Q1-1.5IQR / Q3+1.5IQR）按功能区分组剔除5条操场突发噪声极值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190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Microsoft YaHei"/>
              </a:defRPr>
            </a:pPr>
            <a:r>
              <a:t>④ 数据标准化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641908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Z-score标准化消除量纲影响，便于后续统计分析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63854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24BFF"/>
                </a:solidFill>
                <a:latin typeface="Microsoft YaHei"/>
              </a:defRPr>
            </a:pPr>
            <a:r>
              <a:t>⑤ 后处理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6638544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保留137条有效记录，满足实验需求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动态阈值模型设计（总览）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三种方案递进：业务规则 → 统计自适应 → 混合最优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3566160" cy="53035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模型一：基于业务规则的 固定动态阈值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核心机制：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"功能区 × 时段" 二维规则字典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●  预定义 4功能区 × 6时段 的阈值表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●  时间戳 + 功能区标签精准匹配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●  直接比较判断异常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✓  可解释性强，O(1)复杂度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✗  缺乏对突发波动的适配能力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097280"/>
            <a:ext cx="3566160" cy="53035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09728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188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模型二：基于统计的 自适应阈值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774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核心机制：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"滑动窗口 μ ± k × σ"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●  实时计算窗口内均值μ 和 标准差σ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●  阈值上下限 = μ ± k × σ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●  静态区 k=2（灵敏），动态区 k=3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●  窗口：静态15min / 动态10min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✓  自适应噪声波动，召回率高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✗  可解释性弱，对参数敏感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097280"/>
            <a:ext cx="3566160" cy="53035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09728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1887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模型三：混合阈值模型 （★ 最优方案）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774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核心机制：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"统计自适应 + 业务规则切换"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●  常规时段 → 统计自适应（灵活）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●  触发条件满足 → 业务规则（精准）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3类触发条件（任一）：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  ① 连续3窗口异常率 &gt; 10%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  ② 特殊时段（午休/夜间/考试周）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  ③ 突发噪声源（Δ ≥ 15dB）</a:t>
            </a: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50" b="0">
                <a:solidFill>
                  <a:srgbClr val="CCD6E0"/>
                </a:solidFill>
                <a:latin typeface="Microsoft YaHei"/>
              </a:defRPr>
            </a:pPr>
            <a:r>
              <a:t>✓  融合两者优势，全场景覆盖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Microsoft YaHei"/>
              </a:defRPr>
            </a:pPr>
            <a:r>
              <a:t>⭐  核心策略：常规时段"从数据中找规律"（自适应），异常时刻"用场景定义规则"（业务规则）——两套逻辑互补，覆盖校园全场景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模型一：基于业务规则的固定动态阈值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"功能区 × 时段" 二维规则字典 — 用场景定义规则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Microsoft YaHei"/>
              </a:defRPr>
            </a:pPr>
            <a:r>
              <a:t>📐  二维阈值规则字典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822960"/>
                <a:gridCol w="301752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功能区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 段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阈值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(dB(A))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业务逻辑说明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图书馆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早读 (7:30-8:00)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允许轻微晨读噪声，较上课时段放宽3dB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图书馆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上课/晚自修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严格安静要求，参考GB50118-2010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图书馆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夜间静校 (23:00后)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最严格管控，保障夜间绝对安静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食堂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用餐时段 (11-14/17-19)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允许正常交谈、餐具碰撞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食堂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非用餐时段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非用餐时段人员稀少，降低阈值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操场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活动时段 (8:00-18:00)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体育活动噪声容忍度高，GB3096放宽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操场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夜间 (22:00后)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夜间禁止剧烈活动，按1类区标准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宿舍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昼间 (6:00-22:00)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日常活动噪声容忍度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宿舍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夜间 (22:00后)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夜间休息，适度严格（降5dB）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Microsoft YaHei"/>
              </a:defRPr>
            </a:pPr>
            <a:r>
              <a:t>💻  核心实现代码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3931920" cy="4389120"/>
          </a:xfrm>
          <a:prstGeom prst="rect">
            <a:avLst/>
          </a:prstGeom>
          <a:solidFill>
            <a:srgbClr val="0F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lnSpc>
                <a:spcPts val="1200"/>
              </a:lnSpc>
              <a:defRPr sz="800">
                <a:solidFill>
                  <a:srgbClr val="C0D8F0"/>
                </a:solidFill>
                <a:latin typeface="Consolas"/>
              </a:defRPr>
            </a:pPr>
            <a:r>
              <a:t># 定义二维规则字典</a:t>
            </a:r>
            <a:br/>
            <a:r>
              <a:t>threshold_dict = {</a:t>
            </a:r>
            <a:br/>
            <a:r>
              <a:t>    "图书馆": {</a:t>
            </a:r>
            <a:br/>
            <a:r>
              <a:t>        "早读": 43,</a:t>
            </a:r>
            <a:br/>
            <a:r>
              <a:t>        "上课/晚自修": 40,</a:t>
            </a:r>
            <a:br/>
            <a:r>
              <a:t>        "夜间静校": 35</a:t>
            </a:r>
            <a:br/>
            <a:r>
              <a:t>    },</a:t>
            </a:r>
            <a:br/>
            <a:r>
              <a:t>    "食堂": {</a:t>
            </a:r>
            <a:br/>
            <a:r>
              <a:t>        "用餐时段": 65,</a:t>
            </a:r>
            <a:br/>
            <a:r>
              <a:t>        "非用餐时段": 55</a:t>
            </a:r>
            <a:br/>
            <a:r>
              <a:t>    },</a:t>
            </a:r>
            <a:br/>
            <a:r>
              <a:t>    "操场": {</a:t>
            </a:r>
            <a:br/>
            <a:r>
              <a:t>        "活动时段": 70,</a:t>
            </a:r>
            <a:br/>
            <a:r>
              <a:t>        "夜间": 45</a:t>
            </a:r>
            <a:br/>
            <a:r>
              <a:t>    },</a:t>
            </a:r>
            <a:br/>
            <a:r>
              <a:t>    "宿舍": {</a:t>
            </a:r>
            <a:br/>
            <a:r>
              <a:t>        "昼间": 45,</a:t>
            </a:r>
            <a:br/>
            <a:r>
              <a:t>        "夜间": 40</a:t>
            </a:r>
            <a:br/>
            <a:r>
              <a:t>    }</a:t>
            </a:r>
            <a:br/>
            <a:r>
              <a:t>}</a:t>
            </a:r>
            <a:br/>
            <a:br/>
            <a:r>
              <a:t># 批量匹配阈值</a:t>
            </a:r>
            <a:br/>
            <a:r>
              <a:t>df['rule_threshold'] = df.apply(</a:t>
            </a:r>
            <a:br/>
            <a:r>
              <a:t>    lambda row: threshold_dict[</a:t>
            </a:r>
            <a:br/>
            <a:r>
              <a:t>        row['location']</a:t>
            </a:r>
            <a:br/>
            <a:r>
              <a:t>    ][row['time_segment']],</a:t>
            </a:r>
            <a:br/>
            <a:r>
              <a:t>    axis=1</a:t>
            </a:r>
            <a:br/>
            <a:r>
              <a:t>)</a:t>
            </a:r>
            <a:br/>
            <a:br/>
            <a:r>
              <a:t># 判断异常（当前分贝 &gt; 阈值 → 异常）</a:t>
            </a:r>
            <a:br/>
            <a:r>
              <a:t>df['rule_abnormal'] = (</a:t>
            </a:r>
            <a:br/>
            <a:r>
              <a:t>    df['decibel'] &gt; df['rule_threshold']</a:t>
            </a:r>
            <a:br/>
            <a:r>
              <a:t>).astype(int)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54880"/>
            <a:ext cx="6858000" cy="16459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📝  设计原则与特点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设计原则：功能区属性优先 → 时间维度适配 → 统计数据验证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CCD6E0"/>
                </a:solidFill>
                <a:latin typeface="Microsoft YaHei"/>
              </a:defRPr>
            </a:pPr>
            <a:r>
              <a:t>参考标准：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《声环境质量标准》(GB 3096-2008) + 《民用建筑隔声设计规范》(GB 50118-2023)</a:t>
            </a:r>
          </a:p>
          <a:p>
            <a:pPr>
              <a:spcAft>
                <a:spcPts val="300"/>
              </a:spcAft>
              <a:defRPr sz="1100" b="1">
                <a:solidFill>
                  <a:srgbClr val="CCD6E0"/>
                </a:solidFill>
                <a:latin typeface="Microsoft YaHei"/>
              </a:defRPr>
            </a:pPr>
            <a:r>
              <a:t>时间复杂度：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O(1) — 字典查找，极其高效</a:t>
            </a:r>
          </a:p>
          <a:p>
            <a:pPr>
              <a:spcAft>
                <a:spcPts val="300"/>
              </a:spcAft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核心优势：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可解释性强，每个阈值都能追溯到具体场景业务逻辑</a:t>
            </a:r>
          </a:p>
          <a:p>
            <a:pPr>
              <a:spcAft>
                <a:spcPts val="300"/>
              </a:spcAft>
              <a:defRPr sz="1100" b="1">
                <a:solidFill>
                  <a:srgbClr val="FF475C"/>
                </a:solidFill>
                <a:latin typeface="Microsoft YaHei"/>
              </a:defRPr>
            </a:pPr>
            <a:r>
              <a:t>核心局限：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缺乏对突发噪声波动的适配能力（如操场体育器材碰撞）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模型二&amp;三：统计自适应与混合阈值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滑动窗口 μ±kσ → 触发条件 → 切换规则 → 最优方案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Microsoft YaHei"/>
              </a:defRPr>
            </a:pPr>
            <a:r>
              <a:t>📈  模型二：统计自适应阈值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4937760" cy="4572000"/>
          </a:xfrm>
          <a:prstGeom prst="rect">
            <a:avLst/>
          </a:prstGeom>
          <a:solidFill>
            <a:srgbClr val="0F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lnSpc>
                <a:spcPts val="1150"/>
              </a:lnSpc>
              <a:defRPr sz="750">
                <a:solidFill>
                  <a:srgbClr val="C0D8F0"/>
                </a:solidFill>
                <a:latin typeface="Consolas"/>
              </a:defRPr>
            </a:pPr>
            <a:r>
              <a:t>def adaptive_threshold(group):</a:t>
            </a:r>
            <a:br/>
            <a:r>
              <a:t>    """按功能区分组计算自适应阈值"""</a:t>
            </a:r>
            <a:br/>
            <a:r>
              <a:t>    # 根据功能区特性设置参数</a:t>
            </a:r>
            <a:br/>
            <a:r>
              <a:t>    is_static = group.name in ['图书馆', '宿舍']</a:t>
            </a:r>
            <a:br/>
            <a:r>
              <a:t>    window_size = 15 if is_static else 10</a:t>
            </a:r>
            <a:br/>
            <a:r>
              <a:t>    k = 2 if is_static else 3  # 灵敏度系数</a:t>
            </a:r>
            <a:br/>
            <a:br/>
            <a:r>
              <a:t>    # 滑动窗口统计</a:t>
            </a:r>
            <a:br/>
            <a:r>
              <a:t>    group['rolling_mean'] = (</a:t>
            </a:r>
            <a:br/>
            <a:r>
              <a:t>        group['decibel']</a:t>
            </a:r>
            <a:br/>
            <a:r>
              <a:t>        .rolling(window_size, min_periods=1)</a:t>
            </a:r>
            <a:br/>
            <a:r>
              <a:t>        .mean()</a:t>
            </a:r>
            <a:br/>
            <a:r>
              <a:t>    )</a:t>
            </a:r>
            <a:br/>
            <a:r>
              <a:t>    group['rolling_std'] = (</a:t>
            </a:r>
            <a:br/>
            <a:r>
              <a:t>        group['decibel']</a:t>
            </a:r>
            <a:br/>
            <a:r>
              <a:t>        .rolling(window_size, min_periods=1)</a:t>
            </a:r>
            <a:br/>
            <a:r>
              <a:t>        .std()</a:t>
            </a:r>
            <a:br/>
            <a:r>
              <a:t>    )</a:t>
            </a:r>
            <a:br/>
            <a:br/>
            <a:r>
              <a:t>    # 动态阈值 = 均值 ± k × 标准差</a:t>
            </a:r>
            <a:br/>
            <a:r>
              <a:t>    group['upper_threshold'] = (</a:t>
            </a:r>
            <a:br/>
            <a:r>
              <a:t>        group['rolling_mean']</a:t>
            </a:r>
            <a:br/>
            <a:r>
              <a:t>        + k * group['rolling_std']</a:t>
            </a:r>
            <a:br/>
            <a:r>
              <a:t>    )</a:t>
            </a:r>
            <a:br/>
            <a:r>
              <a:t>    group['lower_threshold'] = (</a:t>
            </a:r>
            <a:br/>
            <a:r>
              <a:t>        group['rolling_mean']</a:t>
            </a:r>
            <a:br/>
            <a:r>
              <a:t>        - k * group['rolling_std']</a:t>
            </a:r>
            <a:br/>
            <a:r>
              <a:t>    )</a:t>
            </a:r>
            <a:br/>
            <a:br/>
            <a:r>
              <a:t>    # 超出上下限 → 标记为异常</a:t>
            </a:r>
            <a:br/>
            <a:r>
              <a:t>    group['adaptive_abnormal'] = (</a:t>
            </a:r>
            <a:br/>
            <a:r>
              <a:t>        (group['decibel'] &gt;</a:t>
            </a:r>
            <a:br/>
            <a:r>
              <a:t>         group['upper_threshold']) |</a:t>
            </a:r>
            <a:br/>
            <a:r>
              <a:t>        (group['decibel'] &lt;</a:t>
            </a:r>
            <a:br/>
            <a:r>
              <a:t>         group['lower_threshold'])</a:t>
            </a:r>
            <a:br/>
            <a:r>
              <a:t>    ).astype(int)</a:t>
            </a:r>
            <a:br/>
            <a:r>
              <a:t>    return group</a:t>
            </a:r>
            <a:br/>
            <a:br/>
            <a:r>
              <a:t># 按功能区分组应用</a:t>
            </a:r>
            <a:br/>
            <a:r>
              <a:t>df = df.groupby(</a:t>
            </a:r>
            <a:br/>
            <a:r>
              <a:t>    'location', group_keys=False</a:t>
            </a:r>
            <a:br/>
            <a:r>
              <a:t>).apply(adaptive_threshold)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⭐  模型三：混合阈值（最优方案）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371600"/>
            <a:ext cx="6126480" cy="4572000"/>
          </a:xfrm>
          <a:prstGeom prst="rect">
            <a:avLst/>
          </a:prstGeom>
          <a:solidFill>
            <a:srgbClr val="0F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lnSpc>
                <a:spcPts val="1150"/>
              </a:lnSpc>
              <a:defRPr sz="750">
                <a:solidFill>
                  <a:srgbClr val="C0D8F0"/>
                </a:solidFill>
                <a:latin typeface="Consolas"/>
              </a:defRPr>
            </a:pPr>
            <a:r>
              <a:t># ── 触发条件判断 ──</a:t>
            </a:r>
            <a:br/>
            <a:r>
              <a:t># 条件1：连续3个窗口异常率 &gt; 10%</a:t>
            </a:r>
            <a:br/>
            <a:r>
              <a:t>trigger_1 = (</a:t>
            </a:r>
            <a:br/>
            <a:r>
              <a:t>    df['adaptive_abnormal']</a:t>
            </a:r>
            <a:br/>
            <a:r>
              <a:t>    .rolling(3, min_periods=1).mean() &gt; 0.1</a:t>
            </a:r>
            <a:br/>
            <a:r>
              <a:t>)</a:t>
            </a:r>
            <a:br/>
            <a:br/>
            <a:r>
              <a:t># 条件2：特殊时段（需严格管控）</a:t>
            </a:r>
            <a:br/>
            <a:r>
              <a:t>trigger_2 = df['time_segment'].isin(</a:t>
            </a:r>
            <a:br/>
            <a:r>
              <a:t>    ['午休', '夜间静校', '考试周']</a:t>
            </a:r>
            <a:br/>
            <a:r>
              <a:t>)</a:t>
            </a:r>
            <a:br/>
            <a:br/>
            <a:r>
              <a:t># 条件3：突发噪声源（分贝骤升 ≥ 15dB）</a:t>
            </a:r>
            <a:br/>
            <a:r>
              <a:t>trigger_3 = df['decibel'].diff().abs() &gt;= 15</a:t>
            </a:r>
            <a:br/>
            <a:br/>
            <a:r>
              <a:t># 合并触发条件（任一满足即触发）</a:t>
            </a:r>
            <a:br/>
            <a:r>
              <a:t>df['trigger'] = (</a:t>
            </a:r>
            <a:br/>
            <a:r>
              <a:t>    trigger_1 | trigger_2 | trigger_3</a:t>
            </a:r>
            <a:br/>
            <a:r>
              <a:t>)</a:t>
            </a:r>
            <a:br/>
            <a:br/>
            <a:r>
              <a:t># ── 根据触发条件选择阈值来源 ──</a:t>
            </a:r>
            <a:br/>
            <a:r>
              <a:t>import numpy as np</a:t>
            </a:r>
            <a:br/>
            <a:r>
              <a:t>df['hybrid_upper'] = np.where(</a:t>
            </a:r>
            <a:br/>
            <a:r>
              <a:t>    df['trigger'],</a:t>
            </a:r>
            <a:br/>
            <a:r>
              <a:t>    df['rule_threshold'],    # 触发 → 业务规则</a:t>
            </a:r>
            <a:br/>
            <a:r>
              <a:t>    df['upper_threshold']    # 正常 → 统计自适应</a:t>
            </a:r>
            <a:br/>
            <a:r>
              <a:t>)</a:t>
            </a:r>
            <a:br/>
            <a:r>
              <a:t>df['hybrid_lower'] = np.where(</a:t>
            </a:r>
            <a:br/>
            <a:r>
              <a:t>    df['trigger'],</a:t>
            </a:r>
            <a:br/>
            <a:r>
              <a:t>    df['rule_threshold'],</a:t>
            </a:r>
            <a:br/>
            <a:r>
              <a:t>    df['lower_threshold']</a:t>
            </a:r>
            <a:br/>
            <a:r>
              <a:t>)</a:t>
            </a:r>
            <a:br/>
            <a:br/>
            <a:r>
              <a:t># ── 异常判定 ──</a:t>
            </a:r>
            <a:br/>
            <a:r>
              <a:t>df['hybrid_abnormal'] = (</a:t>
            </a:r>
            <a:br/>
            <a:r>
              <a:t>    (df['decibel'] &gt; df['hybrid_upper']) |</a:t>
            </a:r>
            <a:br/>
            <a:r>
              <a:t>    (df['decibel'] &lt; df['hybrid_lower'])</a:t>
            </a:r>
            <a:br/>
            <a:r>
              <a:t>).astype(int)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混合策略核心思想：常规时段"从数据中找规律"（自适应滑动窗口），异常时刻"用场景定义规则"（业务规则字典）——3类触发条件覆盖噪声模式突变、特殊时段管控、突发噪声源三大场景，确保两套阈值逻辑无缝衔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可视化实现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Matplotlib 时间序列图 + 异常点标注 + 阈值上下限对比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6217920" cy="5212080"/>
          </a:xfrm>
          <a:prstGeom prst="rect">
            <a:avLst/>
          </a:prstGeom>
          <a:solidFill>
            <a:srgbClr val="0F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lnSpc>
                <a:spcPts val="1100"/>
              </a:lnSpc>
              <a:defRPr sz="700">
                <a:solidFill>
                  <a:srgbClr val="C0D8F0"/>
                </a:solidFill>
                <a:latin typeface="Consolas"/>
              </a:defRPr>
            </a:pPr>
            <a:r>
              <a:t>import matplotlib.pyplot as plt</a:t>
            </a:r>
            <a:br/>
            <a:r>
              <a:t>import matplotlib.dates as mdates</a:t>
            </a:r>
            <a:br/>
            <a:br/>
            <a:r>
              <a:t># 筛选图书馆数据</a:t>
            </a:r>
            <a:br/>
            <a:r>
              <a:t>library_df = df[df['location'] == '图书馆']</a:t>
            </a:r>
            <a:br/>
            <a:br/>
            <a:r>
              <a:t># 创建图表</a:t>
            </a:r>
            <a:br/>
            <a:r>
              <a:t>plt.figure(figsize=(12, 6), dpi=100)</a:t>
            </a:r>
            <a:br/>
            <a:br/>
            <a:r>
              <a:t># 绘制噪声分贝曲线</a:t>
            </a:r>
            <a:br/>
            <a:r>
              <a:t>plt.plot(library_df['time_point'],</a:t>
            </a:r>
            <a:br/>
            <a:r>
              <a:t>         library_df['decibel'],</a:t>
            </a:r>
            <a:br/>
            <a:r>
              <a:t>         label='噪声分贝值', color='#3498DB',</a:t>
            </a:r>
            <a:br/>
            <a:r>
              <a:t>         linewidth=1.5, alpha=0.85)</a:t>
            </a:r>
            <a:br/>
            <a:br/>
            <a:r>
              <a:t># 绘制混合阈值上下限</a:t>
            </a:r>
            <a:br/>
            <a:r>
              <a:t>plt.plot(library_df['time_point'],</a:t>
            </a:r>
            <a:br/>
            <a:r>
              <a:t>         library_df['hybrid_upper'],</a:t>
            </a:r>
            <a:br/>
            <a:r>
              <a:t>         label='阈值上限', color='#E74C3C',</a:t>
            </a:r>
            <a:br/>
            <a:r>
              <a:t>         linestyle='--', linewidth=1.2, alpha=0.7)</a:t>
            </a:r>
            <a:br/>
            <a:r>
              <a:t>plt.plot(library_df['time_point'],</a:t>
            </a:r>
            <a:br/>
            <a:r>
              <a:t>         library_df['hybrid_lower'],</a:t>
            </a:r>
            <a:br/>
            <a:r>
              <a:t>         label='阈值下限', color='#E74C3C',</a:t>
            </a:r>
            <a:br/>
            <a:r>
              <a:t>         linestyle='--', linewidth=1.2, alpha=0.7)</a:t>
            </a:r>
            <a:br/>
            <a:br/>
            <a:r>
              <a:t># 填充正常区间</a:t>
            </a:r>
            <a:br/>
            <a:r>
              <a:t>plt.fill_between(library_df['time_point'],</a:t>
            </a:r>
            <a:br/>
            <a:r>
              <a:t>                 library_df['hybrid_lower'],</a:t>
            </a:r>
            <a:br/>
            <a:r>
              <a:t>                 library_df['hybrid_upper'],</a:t>
            </a:r>
            <a:br/>
            <a:r>
              <a:t>                 alpha=0.1, color='green',</a:t>
            </a:r>
            <a:br/>
            <a:r>
              <a:t>                 label='正常区间')</a:t>
            </a:r>
            <a:br/>
            <a:br/>
            <a:r>
              <a:t># 标注异常点</a:t>
            </a:r>
            <a:br/>
            <a:r>
              <a:t>abnormal = library_df[library_df['hybrid_abnormal'] == 1]</a:t>
            </a:r>
            <a:br/>
            <a:r>
              <a:t>plt.scatter(abnormal['time_point'],</a:t>
            </a:r>
            <a:br/>
            <a:r>
              <a:t>            abnormal['decibel'],</a:t>
            </a:r>
            <a:br/>
            <a:r>
              <a:t>            color='red', s=60, marker='o',</a:t>
            </a:r>
            <a:br/>
            <a:r>
              <a:t>            edgecolors='darkred',</a:t>
            </a:r>
            <a:br/>
            <a:r>
              <a:t>            linewidth=1.5, zorder=5,</a:t>
            </a:r>
            <a:br/>
            <a:r>
              <a:t>            label=f'异常点 (n={len(abnormal)})')</a:t>
            </a:r>
            <a:br/>
            <a:br/>
            <a:r>
              <a:t># 为异常点添加时间标签</a:t>
            </a:r>
            <a:br/>
            <a:r>
              <a:t>for _, row in abnormal.iterrows():</a:t>
            </a:r>
            <a:br/>
            <a:r>
              <a:t>    plt.text(row['time_point'],</a:t>
            </a:r>
            <a:br/>
            <a:r>
              <a:t>             row['decibel'] + 2.5,</a:t>
            </a:r>
            <a:br/>
            <a:r>
              <a:t>             row['time_point'].strftime('%H:%M'),</a:t>
            </a:r>
            <a:br/>
            <a:r>
              <a:t>             fontsize=7, ha='center',</a:t>
            </a:r>
            <a:br/>
            <a:r>
              <a:t>             color='darkred', fontweight='bold')</a:t>
            </a:r>
            <a:br/>
            <a:br/>
            <a:r>
              <a:t># 图表美化</a:t>
            </a:r>
            <a:br/>
            <a:r>
              <a:t>ax = plt.gca()</a:t>
            </a:r>
            <a:br/>
            <a:r>
              <a:t>ax.xaxis.set_major_formatter(</a:t>
            </a:r>
            <a:br/>
            <a:r>
              <a:t>    mdates.DateFormatter('%H:%M'))</a:t>
            </a:r>
            <a:br/>
            <a:r>
              <a:t>ax.xaxis.set_major_locator(</a:t>
            </a:r>
            <a:br/>
            <a:r>
              <a:t>    mdates.HourLocator(interval=1))</a:t>
            </a:r>
            <a:br/>
            <a:r>
              <a:t>plt.title('图书馆噪声实时监测 — 混合阈值动态预警',</a:t>
            </a:r>
            <a:br/>
            <a:r>
              <a:t>          fontsize=14, fontweight='bold')</a:t>
            </a:r>
            <a:br/>
            <a:r>
              <a:t>plt.xlabel('时间', fontsize=12)</a:t>
            </a:r>
            <a:br/>
            <a:r>
              <a:t>plt.ylabel('噪声分贝值 dB(A)', fontsize=12)</a:t>
            </a:r>
            <a:br/>
            <a:r>
              <a:t>plt.legend(loc='upper right', fontsize=9)</a:t>
            </a:r>
            <a:br/>
            <a:r>
              <a:t>plt.grid(True, alpha=0.25, linestyle='--')</a:t>
            </a:r>
            <a:br/>
            <a:r>
              <a:t>plt.tight_layout()</a:t>
            </a:r>
            <a:br/>
            <a:r>
              <a:t>plt.savefig('library_noise_warning.png',</a:t>
            </a:r>
            <a:br/>
            <a:r>
              <a:t>            dpi=150, bbox_inches='tight')</a:t>
            </a:r>
            <a:br/>
            <a:r>
              <a:t>print(f'图表已保存，检测到 '</a:t>
            </a:r>
            <a:br/>
            <a:r>
              <a:t>      f'{len(abnormal)} 个异常点')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051560"/>
            <a:ext cx="4846320" cy="521208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143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Microsoft YaHei"/>
              </a:defRPr>
            </a:pPr>
            <a:r>
              <a:t>🎨  三种可视化图表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📈  图表一：噪声时间序列图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绘制噪声分贝变化曲线 + 动态阈值上下限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绿色填充区标识正常范围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红色散点标注异常点 + 时间标签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支持分功能区单独展示和汇总展示</a:t>
            </a:r>
          </a:p>
          <a:p>
            <a:pPr>
              <a:spcAft>
                <a:spcPts val="300"/>
              </a:spcAft>
              <a:defRPr sz="4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📊  图表二：阈值范围对比图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对比固定阈值 vs 三种动态阈值的范围差异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直观展示动态阈值的场景适配能力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分功能区/分时段维度展开对比</a:t>
            </a:r>
          </a:p>
          <a:p>
            <a:pPr>
              <a:spcAft>
                <a:spcPts val="300"/>
              </a:spcAft>
              <a:defRPr sz="4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📉  图表三：模型性能对比柱状图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准确率 / 精确率 / 召回率 / F1 / 误报率 五维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6模型横向对比，量化验证混合阈值最优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柱状图 + 数据标签，一目了然</a:t>
            </a:r>
          </a:p>
          <a:p>
            <a:pPr>
              <a:spcAft>
                <a:spcPts val="300"/>
              </a:spcAft>
              <a:defRPr sz="4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A24BFF"/>
                </a:solidFill>
                <a:latin typeface="Microsoft YaHei"/>
              </a:defRPr>
            </a:pPr>
            <a:r>
              <a:t>📁  输出格式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PNG 150dpi 高清图表，适配报告 &amp; PPT展示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figsize(12,6) 宽幅布局，横轴时间序列清晰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·  subplots 2×2 四功能区全景展示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系统完整实现架构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Python 一站式：6层流水线 × 4大核心模块 × 可视化为最终输出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🏗  系统技术架构（6层流水线）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① 数据采集层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41732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GB/T 3785.1 1级声级计 · 4功能区×2-3监测点 · 1次/10min×7天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554480" y="2039112"/>
            <a:ext cx="201168" cy="109728"/>
          </a:xfrm>
          <a:prstGeom prst="downArrow">
            <a:avLst/>
          </a:prstGeom>
          <a:solidFill>
            <a:srgbClr val="7A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130552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349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76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② 数据预处理层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130552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Pandas: to_datetime / fillna / IQR / Z-score · 5步流水线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554480" y="2752344"/>
            <a:ext cx="201168" cy="109728"/>
          </a:xfrm>
          <a:prstGeom prst="downArrow">
            <a:avLst/>
          </a:prstGeom>
          <a:solidFill>
            <a:srgbClr val="7A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843784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895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③ 阈值计算层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843784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rule_threshold(字典) / upper+lower(滑动窗口) / hybrid(np.where切换)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554480" y="3465576"/>
            <a:ext cx="201168" cy="109728"/>
          </a:xfrm>
          <a:prstGeom prst="downArrow">
            <a:avLst/>
          </a:prstGeom>
          <a:solidFill>
            <a:srgbClr val="7A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557015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④ 异常检测层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557015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rule_abnormal / adaptive_abnormal / hybrid_abnormal — 布尔标识0/1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554480" y="4178807"/>
            <a:ext cx="201168" cy="109728"/>
          </a:xfrm>
          <a:prstGeom prst="downArrow">
            <a:avLst/>
          </a:prstGeom>
          <a:solidFill>
            <a:srgbClr val="7A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4270248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A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315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⑤ 可视化展示层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270248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Matplotlib: plot折线 + fill_between区间 + scatter异常点 + 时间格式化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1554480" y="4892040"/>
            <a:ext cx="201168" cy="109728"/>
          </a:xfrm>
          <a:prstGeom prst="downArrow">
            <a:avLst/>
          </a:prstGeom>
          <a:solidFill>
            <a:srgbClr val="7A8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4983480"/>
            <a:ext cx="2560320" cy="621792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29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⑥ 报告输出层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983480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PNG 150dpi · 分功能区4子图 · 性能对比柱状图 · 统计报告表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1051560"/>
            <a:ext cx="2834640" cy="512064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143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🛠  核心工具链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5544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▸  Pandas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181051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B9E"/>
                </a:solidFill>
                <a:latin typeface="Microsoft YaHei"/>
              </a:defRPr>
            </a:pPr>
            <a:r>
              <a:t>df.read_csv</a:t>
            </a:r>
            <a:br/>
            <a:r>
              <a:t>df.groupby().apply()</a:t>
            </a:r>
            <a:br/>
            <a:r>
              <a:t>df.rolling().mean/std</a:t>
            </a:r>
            <a:br/>
            <a:r>
              <a:t>df.apply(lambda)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6517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95DB"/>
                </a:solidFill>
                <a:latin typeface="Microsoft YaHei"/>
              </a:defRPr>
            </a:pPr>
            <a:r>
              <a:t>▸  NumPy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90779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B9E"/>
                </a:solidFill>
                <a:latin typeface="Microsoft YaHei"/>
              </a:defRPr>
            </a:pPr>
            <a:r>
              <a:t>np.where()</a:t>
            </a:r>
            <a:br/>
            <a:r>
              <a:t>np.mean() / np.std()</a:t>
            </a:r>
            <a:br/>
            <a:r>
              <a:t>数组运算与逻辑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749039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▸  Matplotlib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005071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B9E"/>
                </a:solidFill>
                <a:latin typeface="Microsoft YaHei"/>
              </a:defRPr>
            </a:pPr>
            <a:r>
              <a:t>plt.plot / scatter</a:t>
            </a:r>
            <a:br/>
            <a:r>
              <a:t>fill_between</a:t>
            </a:r>
            <a:br/>
            <a:r>
              <a:t>subplots 2×2</a:t>
            </a:r>
            <a:br/>
            <a:r>
              <a:t>mdates格式化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8463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4BFF"/>
                </a:solidFill>
                <a:latin typeface="Microsoft YaHei"/>
              </a:defRPr>
            </a:pPr>
            <a:r>
              <a:t>▸  Orange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102352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A8B9E"/>
                </a:solidFill>
                <a:latin typeface="Microsoft YaHei"/>
              </a:defRPr>
            </a:pPr>
            <a:r>
              <a:t>Outliers模块</a:t>
            </a:r>
            <a:br/>
            <a:r>
              <a:t>LOF局部离群因子</a:t>
            </a:r>
            <a:br/>
            <a:r>
              <a:t>孤立森林算法</a:t>
            </a:r>
            <a:br/>
            <a:r>
              <a:t>备选验证方案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系统核心完整代码（一站式）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约80行Python → 数据读取 → 预处理 → 阈值计算 → 异常检测 → 可视化输出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7132320" cy="5577840"/>
          </a:xfrm>
          <a:prstGeom prst="rect">
            <a:avLst/>
          </a:prstGeom>
          <a:solidFill>
            <a:srgbClr val="0F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lnSpc>
                <a:spcPts val="1050"/>
              </a:lnSpc>
              <a:defRPr sz="650">
                <a:solidFill>
                  <a:srgbClr val="C0D8F0"/>
                </a:solidFill>
                <a:latin typeface="Consolas"/>
              </a:defRPr>
            </a:pPr>
            <a:r>
              <a:t>import pandas as pd</a:t>
            </a:r>
            <a:br/>
            <a:r>
              <a:t>import numpy as np</a:t>
            </a:r>
            <a:br/>
            <a:r>
              <a:t>import matplotlib.pyplot as plt</a:t>
            </a:r>
            <a:br/>
            <a:r>
              <a:t>import matplotlib.dates as mdates</a:t>
            </a:r>
            <a:br/>
            <a:br/>
            <a:r>
              <a:t># ═══════════════ 1. 数据读取与预处理 ═══════════════</a:t>
            </a:r>
            <a:br/>
            <a:r>
              <a:t>df = pd.read_csv('campus_noise.csv')</a:t>
            </a:r>
            <a:br/>
            <a:r>
              <a:t>df['time_point'] = pd.to_datetime(df['time_point'])</a:t>
            </a:r>
            <a:br/>
            <a:br/>
            <a:r>
              <a:t># 时段分类函数（7段标签）</a:t>
            </a:r>
            <a:br/>
            <a:r>
              <a:t>def get_segment(t):</a:t>
            </a:r>
            <a:br/>
            <a:r>
              <a:t>    h = t.hour</a:t>
            </a:r>
            <a:br/>
            <a:r>
              <a:t>    if 7 &lt;= h &lt; 8:        return '早读'</a:t>
            </a:r>
            <a:br/>
            <a:r>
              <a:t>    elif 8 &lt;= h &lt; 12:     return '上课/晚自修'</a:t>
            </a:r>
            <a:br/>
            <a:r>
              <a:t>    elif 12 &lt;= h &lt; 14:    return '午休'</a:t>
            </a:r>
            <a:br/>
            <a:r>
              <a:t>    elif 14 &lt;= h &lt; 18:    return '上课/晚自修'</a:t>
            </a:r>
            <a:br/>
            <a:r>
              <a:t>    elif 18 &lt;= h &lt; 19:    return '用餐时段'</a:t>
            </a:r>
            <a:br/>
            <a:r>
              <a:t>    elif 19 &lt;= h &lt; 22:    return '上课/晚自修'</a:t>
            </a:r>
            <a:br/>
            <a:r>
              <a:t>    elif 22 &lt;= h or h &lt; 6: return '夜间静校'</a:t>
            </a:r>
            <a:br/>
            <a:r>
              <a:t>    else:                 return '课间'</a:t>
            </a:r>
            <a:br/>
            <a:r>
              <a:t>df['time_segment'] = df['time_point'].apply(get_segment)</a:t>
            </a:r>
            <a:br/>
            <a:br/>
            <a:r>
              <a:t># ═══════════════ 2. 业务规则动态阈值 ═══════════════</a:t>
            </a:r>
            <a:br/>
            <a:r>
              <a:t>threshold_dict = {</a:t>
            </a:r>
            <a:br/>
            <a:r>
              <a:t>    "图书馆": {"早读": 43, "上课/晚自修": 40, "夜间静校": 35},</a:t>
            </a:r>
            <a:br/>
            <a:r>
              <a:t>    "食堂":   {"用餐时段": 65, "非用餐时段": 55},</a:t>
            </a:r>
            <a:br/>
            <a:r>
              <a:t>    "操场":   {"活动时段": 70, "夜间": 45},</a:t>
            </a:r>
            <a:br/>
            <a:r>
              <a:t>    "宿舍":   {"昼间": 45, "夜间": 40}</a:t>
            </a:r>
            <a:br/>
            <a:r>
              <a:t>}</a:t>
            </a:r>
            <a:br/>
            <a:r>
              <a:t>df['rule_threshold'] = df.apply(</a:t>
            </a:r>
            <a:br/>
            <a:r>
              <a:t>    lambda row: threshold_dict[row['location']][row['time_segment']], axis=1)</a:t>
            </a:r>
            <a:br/>
            <a:r>
              <a:t>df['rule_abnormal'] = (df['decibel'] &gt; df['rule_threshold']).astype(int)</a:t>
            </a:r>
            <a:br/>
            <a:br/>
            <a:r>
              <a:t># ═══════════════ 3. 统计自适应阈值（分组滑动窗口）═══════════════</a:t>
            </a:r>
            <a:br/>
            <a:r>
              <a:t>def adaptive_threshold(group):</a:t>
            </a:r>
            <a:br/>
            <a:r>
              <a:t>    is_static = group.name in ['图书馆', '宿舍']</a:t>
            </a:r>
            <a:br/>
            <a:r>
              <a:t>    ws, k = (15, 2) if is_static else (10, 3)</a:t>
            </a:r>
            <a:br/>
            <a:r>
              <a:t>    group['rolling_mean'] = group['decibel'].rolling(ws, min_periods=1).mean()</a:t>
            </a:r>
            <a:br/>
            <a:r>
              <a:t>    group['rolling_std']  = group['decibel'].rolling(ws, min_periods=1).std()</a:t>
            </a:r>
            <a:br/>
            <a:r>
              <a:t>    group['upper'] = group['rolling_mean'] + k * group['rolling_std']</a:t>
            </a:r>
            <a:br/>
            <a:r>
              <a:t>    group['lower'] = group['rolling_mean'] - k * group['rolling_std']</a:t>
            </a:r>
            <a:br/>
            <a:r>
              <a:t>    group['adaptive_abnormal'] = (</a:t>
            </a:r>
            <a:br/>
            <a:r>
              <a:t>        (group['decibel'] &gt; group['upper']) |</a:t>
            </a:r>
            <a:br/>
            <a:r>
              <a:t>        (group['decibel'] &lt; group['lower'])).astype(int)</a:t>
            </a:r>
            <a:br/>
            <a:r>
              <a:t>    return group</a:t>
            </a:r>
            <a:br/>
            <a:r>
              <a:t>df = df.groupby('location', group_keys=False).apply(adaptive_threshold)</a:t>
            </a:r>
            <a:br/>
            <a:br/>
            <a:r>
              <a:t># ═══════════════ 4. 混合阈值（最优方案）═══════════════</a:t>
            </a:r>
            <a:br/>
            <a:r>
              <a:t>df['trigger'] = (</a:t>
            </a:r>
            <a:br/>
            <a:r>
              <a:t>    (df['adaptive_abnormal'].rolling(3, min_periods=1).mean() &gt; 0.1) |</a:t>
            </a:r>
            <a:br/>
            <a:r>
              <a:t>    (df['time_segment'].isin(['午休', '夜间静校', '考试周'])) |</a:t>
            </a:r>
            <a:br/>
            <a:r>
              <a:t>    (df['decibel'].diff().abs() &gt;= 15)</a:t>
            </a:r>
            <a:br/>
            <a:r>
              <a:t>)</a:t>
            </a:r>
            <a:br/>
            <a:r>
              <a:t>df['hybrid_upper'] = np.where(df['trigger'], df['rule_threshold'], df['upper'])</a:t>
            </a:r>
            <a:br/>
            <a:r>
              <a:t>df['hybrid_lower'] = np.where(df['trigger'], df['rule_threshold'], df['lower'])</a:t>
            </a:r>
            <a:br/>
            <a:r>
              <a:t>df['hybrid_abnormal'] = (</a:t>
            </a:r>
            <a:br/>
            <a:r>
              <a:t>    (df['decibel'] &gt; df['hybrid_upper']) |</a:t>
            </a:r>
            <a:br/>
            <a:r>
              <a:t>    (df['decibel'] &lt; df['hybrid_lower'])).astype(int)</a:t>
            </a:r>
            <a:br/>
            <a:br/>
            <a:r>
              <a:t># ═══════════════ 5. 可视化：四功能区全景展示 ═══════════════</a:t>
            </a:r>
            <a:br/>
            <a:r>
              <a:t>fig, axes = plt.subplots(2, 2, figsize=(16, 10))</a:t>
            </a:r>
            <a:br/>
            <a:r>
              <a:t>for ax, loc in zip(axes.flat, ['图书馆', '食堂', '操场', '宿舍']):</a:t>
            </a:r>
            <a:br/>
            <a:r>
              <a:t>    data = df[df['location'] == loc]</a:t>
            </a:r>
            <a:br/>
            <a:r>
              <a:t>    ax.plot(data['time_point'], data['decibel'], alpha=0.7, lw=1.2, label='分贝值')</a:t>
            </a:r>
            <a:br/>
            <a:r>
              <a:t>    ax.plot(data['time_point'], data['hybrid_upper'], '--', color='red',</a:t>
            </a:r>
            <a:br/>
            <a:r>
              <a:t>            alpha=0.6, lw=1.0, label='阈值上限')</a:t>
            </a:r>
            <a:br/>
            <a:r>
              <a:t>    ax.fill_between(data['time_point'], data['hybrid_lower'],</a:t>
            </a:r>
            <a:br/>
            <a:r>
              <a:t>                    data['hybrid_upper'], alpha=0.08, color='green')</a:t>
            </a:r>
            <a:br/>
            <a:r>
              <a:t>    abnormal = data[data['hybrid_abnormal'] == 1]</a:t>
            </a:r>
            <a:br/>
            <a:r>
              <a:t>    ax.scatter(abnormal['time_point'], abnormal['decibel'],</a:t>
            </a:r>
            <a:br/>
            <a:r>
              <a:t>               c='red', s=45, zorder=5, label=f'异常({len(abnormal)})')</a:t>
            </a:r>
            <a:br/>
            <a:r>
              <a:t>    ax.set_title(f'{loc} — 混合阈值噪声监测', fontsize=13, fontweight='bold')</a:t>
            </a:r>
            <a:br/>
            <a:r>
              <a:t>    ax.xaxis.set_major_formatter(mdates.DateFormatter('%H:%M'))</a:t>
            </a:r>
            <a:br/>
            <a:r>
              <a:t>    ax.legend(fontsize=8); ax.grid(alpha=0.2)</a:t>
            </a:r>
            <a:br/>
            <a:r>
              <a:t>plt.tight_layout(); plt.savefig('all_zones_warning.png', dpi=150)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051560"/>
            <a:ext cx="4206240" cy="557784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143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📝  代码结构解析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46304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FD700"/>
                </a:solidFill>
                <a:latin typeface="Microsoft YaHei"/>
              </a:defRPr>
            </a:pPr>
            <a:r>
              <a:t>代码总量：~80 行 Python</a:t>
            </a:r>
          </a:p>
          <a:p>
            <a:pPr>
              <a:spcAft>
                <a:spcPts val="300"/>
              </a:spcAft>
              <a:defRPr sz="5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━━━ 模块一：数据预处理 ━━━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  pd.read_csv  →  时间戳转换  →  时段分类</a:t>
            </a:r>
          </a:p>
          <a:p>
            <a:pPr>
              <a:spcAft>
                <a:spcPts val="300"/>
              </a:spcAft>
              <a:defRPr sz="900" b="0">
                <a:solidFill>
                  <a:srgbClr val="7A8B9E"/>
                </a:solidFill>
                <a:latin typeface="Microsoft YaHei"/>
              </a:defRPr>
            </a:pPr>
            <a:r>
              <a:t>  7段时段标签：早读/上课/午休/课间/用餐/晚自修/夜间</a:t>
            </a:r>
          </a:p>
          <a:p>
            <a:pPr>
              <a:spcAft>
                <a:spcPts val="300"/>
              </a:spcAft>
              <a:defRPr sz="4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━━━ 模块二：业务规则阈值 ━━━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  二维规则字典  →  apply(lambda) 批量匹配</a:t>
            </a:r>
          </a:p>
          <a:p>
            <a:pPr>
              <a:spcAft>
                <a:spcPts val="300"/>
              </a:spcAft>
              <a:defRPr sz="900" b="0">
                <a:solidFill>
                  <a:srgbClr val="7A8B9E"/>
                </a:solidFill>
                <a:latin typeface="Microsoft YaHei"/>
              </a:defRPr>
            </a:pPr>
            <a:r>
              <a:t>  9条规则覆盖4功能区×各时段</a:t>
            </a:r>
          </a:p>
          <a:p>
            <a:pPr>
              <a:spcAft>
                <a:spcPts val="300"/>
              </a:spcAft>
              <a:defRPr sz="4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A24BFF"/>
                </a:solidFill>
                <a:latin typeface="Microsoft YaHei"/>
              </a:defRPr>
            </a:pPr>
            <a:r>
              <a:t>━━━ 模块三：统计自适应阈值 ━━━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  groupby(location)  →  rolling().mean/std</a:t>
            </a:r>
          </a:p>
          <a:p>
            <a:pPr>
              <a:spcAft>
                <a:spcPts val="300"/>
              </a:spcAft>
              <a:defRPr sz="900" b="0">
                <a:solidFill>
                  <a:srgbClr val="7A8B9E"/>
                </a:solidFill>
                <a:latin typeface="Microsoft YaHei"/>
              </a:defRPr>
            </a:pPr>
            <a:r>
              <a:t>  静态区(ws=15,k=2) / 动态区(ws=10,k=3)</a:t>
            </a:r>
          </a:p>
          <a:p>
            <a:pPr>
              <a:spcAft>
                <a:spcPts val="300"/>
              </a:spcAft>
              <a:defRPr sz="4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━━━ 模块四：混合阈值 ⭐ ━━━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  3类触发条件  →  np.where 选择阈值来源</a:t>
            </a:r>
          </a:p>
          <a:p>
            <a:pPr>
              <a:spcAft>
                <a:spcPts val="300"/>
              </a:spcAft>
              <a:defRPr sz="900" b="0">
                <a:solidFill>
                  <a:srgbClr val="7A8B9E"/>
                </a:solidFill>
                <a:latin typeface="Microsoft YaHei"/>
              </a:defRPr>
            </a:pPr>
            <a:r>
              <a:t>  异常率&gt;10% / 特殊时段 / 分贝骤升≥15dB</a:t>
            </a:r>
          </a:p>
          <a:p>
            <a:pPr>
              <a:spcAft>
                <a:spcPts val="300"/>
              </a:spcAft>
              <a:defRPr sz="4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━━━ 模块五：可视化输出 ━━━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  subplots(2,2)  →  plot+scatter+fill_between</a:t>
            </a:r>
          </a:p>
          <a:p>
            <a:pPr>
              <a:spcAft>
                <a:spcPts val="300"/>
              </a:spcAft>
              <a:defRPr sz="900" b="0">
                <a:solidFill>
                  <a:srgbClr val="7A8B9E"/>
                </a:solidFill>
                <a:latin typeface="Microsoft YaHei"/>
              </a:defRPr>
            </a:pPr>
            <a:r>
              <a:t>  DateFormatter + 图例 + 网格 + 150dpi输出</a:t>
            </a:r>
          </a:p>
          <a:p>
            <a:pPr>
              <a:spcAft>
                <a:spcPts val="300"/>
              </a:spcAft>
              <a:defRPr sz="5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复用方式：替换 CSV 文件即可适配新数据集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实验设计与评价体系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6模型 × 5指标 × 4功能区 × 5折交叉验证 —— 科学严谨的对比实验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Microsoft YaHei"/>
              </a:defRPr>
            </a:pPr>
            <a:r>
              <a:t>🧪  实验分组（6组）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7A8B9E"/>
                </a:solidFill>
                <a:latin typeface="Microsoft YaHei"/>
              </a:defRPr>
            </a:pPr>
            <a:r>
              <a:t>【对照组】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固定阈值模型 — GB 3096-2008统一标准（昼55dB / 夜45dB）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【实验组1】业务规则动态阈值模型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二维规则字典匹配 — 9条规则 / 4功能区 × 多时段</a:t>
            </a:r>
          </a:p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【实验组2】统计自适应阈值模型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滑动窗口 μ±kσ — 分组参数差异化</a:t>
            </a:r>
          </a:p>
          <a:p>
            <a:pPr>
              <a:spcAft>
                <a:spcPts val="3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【实验组3】混合阈值模型 ⭐（核心方案）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统计自适应 + 业务规则切换 — 3类触发条件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A24BFF"/>
                </a:solidFill>
                <a:latin typeface="Microsoft YaHei"/>
              </a:defRPr>
            </a:pPr>
            <a:r>
              <a:t>【备选验证】Orange 无监督算法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LOF局部离群因子 / 孤立森林 — contamination 0.05-0.15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Microsoft YaHei"/>
              </a:defRPr>
            </a:pPr>
            <a:r>
              <a:t>⚙️  实验设置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CD6E0"/>
                </a:solidFill>
                <a:latin typeface="Microsoft YaHei"/>
              </a:defRPr>
            </a:pPr>
            <a:r>
              <a:t>数据划分：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训练集 70% (96条) + 测试集 30% (41条)</a:t>
            </a:r>
          </a:p>
          <a:p>
            <a:pPr>
              <a:spcAft>
                <a:spcPts val="300"/>
              </a:spcAft>
              <a:defRPr sz="1200" b="1">
                <a:solidFill>
                  <a:srgbClr val="CCD6E0"/>
                </a:solidFill>
                <a:latin typeface="Microsoft YaHei"/>
              </a:defRPr>
            </a:pPr>
            <a:r>
              <a:t>交叉验证：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5折交叉验证，所有指标取平均值</a:t>
            </a:r>
          </a:p>
          <a:p>
            <a:pPr>
              <a:spcAft>
                <a:spcPts val="300"/>
              </a:spcAft>
              <a:defRPr sz="1200" b="1">
                <a:solidFill>
                  <a:srgbClr val="CCD6E0"/>
                </a:solidFill>
                <a:latin typeface="Microsoft YaHei"/>
              </a:defRPr>
            </a:pPr>
            <a:r>
              <a:t>随机种子：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random_state = 42，确保实验可复现</a:t>
            </a:r>
          </a:p>
          <a:p>
            <a:pPr>
              <a:spcAft>
                <a:spcPts val="300"/>
              </a:spcAft>
              <a:defRPr sz="1200" b="1">
                <a:solidFill>
                  <a:srgbClr val="CCD6E0"/>
                </a:solidFill>
                <a:latin typeface="Microsoft YaHei"/>
              </a:defRPr>
            </a:pPr>
            <a:r>
              <a:t>Orange参数：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contamination=0.05-0.15, n_neighbors=5-10</a:t>
            </a:r>
          </a:p>
          <a:p>
            <a:pPr>
              <a:spcAft>
                <a:spcPts val="300"/>
              </a:spcAft>
              <a:defRPr sz="1200" b="1">
                <a:solidFill>
                  <a:srgbClr val="CCD6E0"/>
                </a:solidFill>
                <a:latin typeface="Microsoft YaHei"/>
              </a:defRPr>
            </a:pPr>
            <a:r>
              <a:t>实验环境：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Python 3.x + Pandas + NumPy + Matplotlib + Orange 3</a:t>
            </a:r>
          </a:p>
          <a:p>
            <a:pPr>
              <a:spcAft>
                <a:spcPts val="300"/>
              </a:spcAft>
              <a:defRPr sz="1200" b="1">
                <a:solidFill>
                  <a:srgbClr val="CCD6E0"/>
                </a:solidFill>
                <a:latin typeface="Microsoft YaHei"/>
              </a:defRPr>
            </a:pPr>
            <a:r>
              <a:t>评估准则：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所有模型使用同一训练集/测试集划分，确保公平对比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Microsoft YaHei"/>
              </a:defRPr>
            </a:pPr>
            <a:r>
              <a:t>📏  5项量化评价指标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97680"/>
            <a:ext cx="11155680" cy="45720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FF"/>
                </a:solidFill>
                <a:latin typeface="Microsoft YaHei"/>
              </a:defRPr>
            </a:pPr>
            <a:r>
              <a:t>准确率</a:t>
            </a:r>
            <a:br/>
            <a: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70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（TP+TN）/ 总样本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3708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整体检测精度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370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FF"/>
                </a:solidFill>
                <a:latin typeface="Microsoft YaHei"/>
              </a:defRPr>
            </a:pPr>
            <a:r>
              <a:t>越高越好  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09744"/>
            <a:ext cx="11155680" cy="45720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554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Microsoft YaHei"/>
              </a:defRPr>
            </a:pPr>
            <a:r>
              <a:t>精确率</a:t>
            </a:r>
            <a:br/>
            <a: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82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TP /（TP+FP）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8828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误报控制能力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828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Microsoft YaHei"/>
              </a:defRPr>
            </a:pPr>
            <a:r>
              <a:t>越高越好  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21808"/>
            <a:ext cx="11155680" cy="45720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675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  <a:latin typeface="Microsoft YaHei"/>
              </a:defRPr>
            </a:pPr>
            <a:r>
              <a:t>召回率</a:t>
            </a:r>
            <a:br/>
            <a:r>
              <a:t>Recall（TPR）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TP /（TP+FN）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394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漏报控制能力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94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6B35"/>
                </a:solidFill>
                <a:latin typeface="Microsoft YaHei"/>
              </a:defRPr>
            </a:pPr>
            <a:r>
              <a:t>越高越好  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33872"/>
            <a:ext cx="11155680" cy="45720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79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24BFF"/>
                </a:solidFill>
                <a:latin typeface="Microsoft YaHei"/>
              </a:defRPr>
            </a:pPr>
            <a:r>
              <a:t>F1 分数</a:t>
            </a:r>
            <a:br/>
            <a:r>
              <a:t>F1-Score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9070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2×P×R /（P+R）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9070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综合性能（调和平均）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9070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24BFF"/>
                </a:solidFill>
                <a:latin typeface="Microsoft YaHei"/>
              </a:defRPr>
            </a:pPr>
            <a:r>
              <a:t>越高越好  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345936"/>
            <a:ext cx="11155680" cy="45720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3916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475C"/>
                </a:solidFill>
                <a:latin typeface="Microsoft YaHei"/>
              </a:defRPr>
            </a:pPr>
            <a:r>
              <a:t>误报率</a:t>
            </a:r>
            <a:br/>
            <a:r>
              <a:t>FPR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6419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FP /（FP+TN）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64190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模型稳定性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6419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475C"/>
                </a:solidFill>
                <a:latin typeface="Microsoft YaHei"/>
              </a:defRPr>
            </a:pPr>
            <a:r>
              <a:t>越低越好  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实验结果：全模型性能对比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6模型 × 5项指标（5折交叉验证平均值）—— 混合阈值全面领先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99669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1280160"/>
                <a:gridCol w="1280160"/>
                <a:gridCol w="1280160"/>
                <a:gridCol w="128016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模型类型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准确率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(%)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精确率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(%)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召回率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(%)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F1分数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(%)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误报率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(%)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综合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评级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固定阈值 (GB 3096)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78.0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65.0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70.0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67.4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13.5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Orange — LOF 算法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72.0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58.0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65.0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61.3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22.0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Orange — 孤立森林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73.5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60.2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67.8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63.8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20.5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业务规则动态阈值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88.7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85.2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87.3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86.2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5.3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B+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统计自适应阈值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89.4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86.1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88.2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87.1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B+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★ 混合阈值模型（最优）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92.6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90.8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91.7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91.2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474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Microsoft YaHei"/>
              </a:defRPr>
            </a:pPr>
            <a:r>
              <a:t>🔥  核心对比：混合阈值 vs 固定阈值  &amp;  混合阈值 vs 纯算法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86200"/>
            <a:ext cx="3520440" cy="123444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59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混合 vs 固定阈值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92.6% vs 78.0%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80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+14.6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526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相对提升 +18.7%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886200"/>
            <a:ext cx="3520440" cy="123444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959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F1分数提升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91.2% vs 67.4%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480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+23.8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526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相对提升 +35.3%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3886200"/>
            <a:ext cx="3520440" cy="123444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39" y="3959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误报率降低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39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4.0% vs 13.5%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39" y="4480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-9.5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9" y="4526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相对提升 -60.7%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257800"/>
            <a:ext cx="3520440" cy="123444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330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精确率提升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577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90.8% vs 65.0%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852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+25.8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897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相对提升 +39.7%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5257800"/>
            <a:ext cx="3520440" cy="123444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5330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混合 vs LOF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577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92.6% vs 72.0%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5852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+20.6 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5897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相对提升 +28.6%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5257800"/>
            <a:ext cx="3520440" cy="123444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39" y="5330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混合 vs 孤立森林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39" y="5577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92.6% vs 73.5%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39" y="5852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+19.1 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199" y="5897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相对提升 +26.0%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各功能区性能细分 + 异常分析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混合阈值模型 × 四大功能区 × 精细性能剖析 × 3条误判根因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🏫  混合阈值模型 — 分功能区性能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17320"/>
          <a:ext cx="7589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914400"/>
                <a:gridCol w="914400"/>
                <a:gridCol w="868680"/>
                <a:gridCol w="224028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功能区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准确率%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精确率%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召回率%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误报率%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噪声特征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评价</a:t>
                      </a:r>
                    </a:p>
                  </a:txBody>
                  <a:tcPr>
                    <a:solidFill>
                      <a:srgbClr val="00D4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图书馆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94.7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92.3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93.5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2.8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均值48.3 / 标准差6.7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★ 最优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宿舍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93.8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91.5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92.6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均值51.2 / 标准差7.4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★ 优秀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食堂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90.5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89.1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90.0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4.5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均值63.8 / 标准差8.2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☆ 良好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操场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89.7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88.6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89.2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5.2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均值68.9 / 标准差9.5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☆ 良好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3200400"/>
            <a:ext cx="5486400" cy="173736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📈  静态 vs 动态功能区对比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静态功能区（图书馆/宿舍）表现最优：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·  业务规则阈值严格约束正常噪声范围</a:t>
            </a:r>
          </a:p>
          <a:p>
            <a:pPr>
              <a:spcAft>
                <a:spcPts val="300"/>
              </a:spcAft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  ·  图书馆上课≤40dB → 有效过滤40-50dB翻书/低声交流</a:t>
            </a:r>
          </a:p>
          <a:p>
            <a:pPr>
              <a:spcAft>
                <a:spcPts val="300"/>
              </a:spcAft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  ·  宿舍夜间≤40dB → 精准识别≥40dB轻微异常喧哗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动态功能区（食堂/操场）适配良好：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·  标准差8.2-9.5，波动性大导致少量误判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·  较固定阈值误报率降低8.0-9.3个百分点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5486400" cy="384048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⚠  实验异常分析（3条误判 / 41条测试集）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5087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误判率 7.3%，集中在核心功能区特殊场景，不影响核心结论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FF475C"/>
                </a:solidFill>
                <a:latin typeface="Microsoft YaHei"/>
              </a:defRPr>
            </a:pPr>
            <a:r>
              <a:t>误判1 · 操场误报：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  16:30 器材碰撞 72.3dB，持续&lt;5秒，未造成实质干扰</a:t>
            </a:r>
          </a:p>
          <a:p>
            <a:pPr>
              <a:spcAft>
                <a:spcPts val="300"/>
              </a:spcAft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  根因：模型仅判断瞬时值，未加入"噪声持续时间"维度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FF475C"/>
                </a:solidFill>
                <a:latin typeface="Microsoft YaHei"/>
              </a:defRPr>
            </a:pPr>
            <a:r>
              <a:t>误判2 · 食堂误报：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  10:30 清洁打扫 57.2dB，超过非用餐阈值55dB</a:t>
            </a:r>
          </a:p>
          <a:p>
            <a:pPr>
              <a:spcAft>
                <a:spcPts val="300"/>
              </a:spcAft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  根因：业务规则未区分"正常作业噪声"与"干扰性噪声"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FF475C"/>
                </a:solidFill>
                <a:latin typeface="Microsoft YaHei"/>
              </a:defRPr>
            </a:pPr>
            <a:r>
              <a:t>误判3 · 图书馆漏报：</a:t>
            </a:r>
          </a:p>
          <a:p>
            <a:pPr>
              <a:spcAft>
                <a:spcPts val="300"/>
              </a:spcAft>
              <a:defRPr sz="1000" b="0">
                <a:solidFill>
                  <a:srgbClr val="CCD6E0"/>
                </a:solidFill>
                <a:latin typeface="Microsoft YaHei"/>
              </a:defRPr>
            </a:pPr>
            <a:r>
              <a:t>  7:45 低声喧哗 44.2dB，低于早读阈值43dB导致漏判</a:t>
            </a:r>
          </a:p>
          <a:p>
            <a:pPr>
              <a:spcAft>
                <a:spcPts val="300"/>
              </a:spcAft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  根因：早读时段阈值设置偏高，需精细化调整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结论：所有异常根因均为业务规则细节不足 → 进一步印证</a:t>
            </a:r>
          </a:p>
          <a:p>
            <a:pPr>
              <a:spcAft>
                <a:spcPts val="300"/>
              </a:spcAft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"业务规则精细化程度直接决定模型预警精度"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"业务规则 &gt; 算法" 量化验证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控制变量实验 × 性能贡献拆解 × 场景逻辑分析 — 完整证据链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📊  控制变量实验 — 性能贡献拆解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剥离实验设计：逐步移除各部分，观察性能变化</a:t>
            </a:r>
          </a:p>
          <a:p>
            <a:pPr>
              <a:spcAft>
                <a:spcPts val="300"/>
              </a:spcAft>
              <a:defRPr sz="4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仅业务规则阈值（去除统计自适应逻辑）：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→ 准确率 88.7%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仅统计自适应阈值（去除业务规则约束）：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  → 准确率 89.4%</a:t>
            </a:r>
          </a:p>
          <a:p>
            <a:pPr>
              <a:spcAft>
                <a:spcPts val="300"/>
              </a:spcAft>
              <a:defRPr sz="2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两者融合（混合阈值模型）：</a:t>
            </a:r>
          </a:p>
          <a:p>
            <a:pPr>
              <a:spcAft>
                <a:spcPts val="300"/>
              </a:spcAft>
              <a:defRPr sz="1200" b="0">
                <a:solidFill>
                  <a:srgbClr val="FF6B35"/>
                </a:solidFill>
                <a:latin typeface="Microsoft YaHei"/>
              </a:defRPr>
            </a:pPr>
            <a:r>
              <a:t>  → 准确率 92.6%  (+3.2pp)</a:t>
            </a:r>
          </a:p>
          <a:p>
            <a:pPr>
              <a:spcAft>
                <a:spcPts val="300"/>
              </a:spcAft>
              <a:defRPr sz="5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━━━━━━━━━━━━━━━━━━━━━━━━━━━━━━</a:t>
            </a:r>
          </a:p>
          <a:p>
            <a:pPr>
              <a:spcAft>
                <a:spcPts val="300"/>
              </a:spcAft>
              <a:defRPr sz="1500" b="1">
                <a:solidFill>
                  <a:srgbClr val="FFD700"/>
                </a:solidFill>
                <a:latin typeface="Microsoft YaHei"/>
              </a:defRPr>
            </a:pPr>
            <a:r>
              <a:t>量化结论：</a:t>
            </a:r>
          </a:p>
          <a:p>
            <a:pPr>
              <a:spcAft>
                <a:spcPts val="300"/>
              </a:spcAft>
              <a:defRPr sz="1400" b="1">
                <a:solidFill>
                  <a:srgbClr val="00E676"/>
                </a:solidFill>
                <a:latin typeface="Microsoft YaHei"/>
              </a:defRPr>
            </a:pPr>
            <a:r>
              <a:t>  业务规则贡献 ≈ 70% 的性能提升</a:t>
            </a:r>
          </a:p>
          <a:p>
            <a:pPr>
              <a:spcAft>
                <a:spcPts val="300"/>
              </a:spcAft>
              <a:defRPr sz="1300" b="0">
                <a:solidFill>
                  <a:srgbClr val="7A8B9E"/>
                </a:solidFill>
                <a:latin typeface="Microsoft YaHei"/>
              </a:defRPr>
            </a:pPr>
            <a:r>
              <a:t>  统计算法优化贡献 ≈ 30%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这从数据层面直接证明了"业务规则 &gt; 算法"的核心论断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🔍  业务规则 vs 纯算法 — 性能横向对比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业务规则驱动模型 vs 纯数据驱动模型：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00E676"/>
                </a:solidFill>
                <a:latin typeface="Microsoft YaHei"/>
              </a:defRPr>
            </a:pPr>
            <a:r>
              <a:t>业务规则动态阈值：准确率 88.7% / F1 86.2%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  vs LOF算法：准确率 72.0% / F1 61.3%</a:t>
            </a:r>
          </a:p>
          <a:p>
            <a:pPr>
              <a:spcAft>
                <a:spcPts val="300"/>
              </a:spcAft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  → 准确率提升 +16.7pp，F1提升 +24.9pp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FF6B35"/>
                </a:solidFill>
                <a:latin typeface="Microsoft YaHei"/>
              </a:defRPr>
            </a:pPr>
            <a:r>
              <a:t>混合阈值模型：准确率 92.6% / 误报率 4.0%</a:t>
            </a:r>
          </a:p>
          <a:p>
            <a:pPr>
              <a:spcAft>
                <a:spcPts val="300"/>
              </a:spcAft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  vs 孤立森林：准确率 73.5% / 误报率 20.5%</a:t>
            </a:r>
          </a:p>
          <a:p>
            <a:pPr>
              <a:spcAft>
                <a:spcPts val="300"/>
              </a:spcAft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  → 准确率提升 +19.1pp，误报率降低 -16.5pp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475C"/>
                </a:solidFill>
                <a:latin typeface="Microsoft YaHei"/>
              </a:defRPr>
            </a:pPr>
            <a:r>
              <a:t>纯算法模型性能不佳的根本原因：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仅基于分贝数值统计特征识别"数值异常"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无法解读校园不同功能区的业务场景差异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→ 在图书馆/操场等核心场景误报、漏报频发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155680" cy="237744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🔬  场景逻辑本质：为什么业务规则主导模型性能？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核心认知：校园噪声的"正常/异常" = f (分贝值, 场景业务逻辑)  —— 两者缺一不可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场景分析</a:t>
            </a:r>
          </a:p>
          <a:p>
            <a:pPr>
              <a:spcAft>
                <a:spcPts val="300"/>
              </a:spcAft>
              <a:defRPr sz="1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业务属性</a:t>
            </a:r>
          </a:p>
          <a:p>
            <a:pPr>
              <a:spcAft>
                <a:spcPts val="300"/>
              </a:spcAft>
              <a:defRPr sz="1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噪声容忍逻辑</a:t>
            </a:r>
          </a:p>
          <a:p>
            <a:pPr>
              <a:spcAft>
                <a:spcPts val="300"/>
              </a:spcAft>
              <a:defRPr sz="1100" b="1">
                <a:solidFill>
                  <a:srgbClr val="00D4FF"/>
                </a:solidFill>
                <a:latin typeface="Microsoft YaHei"/>
              </a:defRPr>
            </a:pPr>
            <a:r>
              <a:t>图书馆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核心功能 = 学习阅读</a:t>
            </a:r>
          </a:p>
          <a:p>
            <a:pPr>
              <a:spcAft>
                <a:spcPts val="300"/>
              </a:spcAft>
              <a:defRPr sz="1100" b="0">
                <a:solidFill>
                  <a:srgbClr val="FF6B35"/>
                </a:solidFill>
                <a:latin typeface="Microsoft YaHei"/>
              </a:defRPr>
            </a:pPr>
            <a:r>
              <a:t>噪声敏感度极高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≥50dB轻微噪声即干扰专注度 → 设定低阈值（40-43dB）</a:t>
            </a:r>
          </a:p>
          <a:p>
            <a:pPr>
              <a:spcAft>
                <a:spcPts val="300"/>
              </a:spcAft>
              <a:defRPr sz="1100" b="1">
                <a:solidFill>
                  <a:srgbClr val="00D4FF"/>
                </a:solidFill>
                <a:latin typeface="Microsoft YaHei"/>
              </a:defRPr>
            </a:pPr>
            <a:r>
              <a:t>操场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核心功能 = 体育活动</a:t>
            </a:r>
          </a:p>
          <a:p>
            <a:pPr>
              <a:spcAft>
                <a:spcPts val="300"/>
              </a:spcAft>
              <a:defRPr sz="1100" b="0">
                <a:solidFill>
                  <a:srgbClr val="FF6B35"/>
                </a:solidFill>
                <a:latin typeface="Microsoft YaHei"/>
              </a:defRPr>
            </a:pPr>
            <a:r>
              <a:t>噪声容忍度较高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≤70dB属正常活动范畴 → 设定高阈值（70dB）</a:t>
            </a:r>
          </a:p>
          <a:p>
            <a:pPr>
              <a:spcAft>
                <a:spcPts val="300"/>
              </a:spcAft>
              <a:defRPr sz="1100" b="1">
                <a:solidFill>
                  <a:srgbClr val="00D4FF"/>
                </a:solidFill>
                <a:latin typeface="Microsoft YaHei"/>
              </a:defRPr>
            </a:pPr>
            <a:r>
              <a:t>食堂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核心功能 = 就餐交流</a:t>
            </a:r>
          </a:p>
          <a:p>
            <a:pPr>
              <a:spcAft>
                <a:spcPts val="300"/>
              </a:spcAft>
              <a:defRPr sz="1100" b="0">
                <a:solidFill>
                  <a:srgbClr val="FF6B35"/>
                </a:solidFill>
                <a:latin typeface="Microsoft YaHei"/>
              </a:defRPr>
            </a:pPr>
            <a:r>
              <a:t>用餐/非用餐时段差异大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用餐65dB允许交谈 / 非用餐55dB保持安静</a:t>
            </a:r>
          </a:p>
          <a:p>
            <a:pPr>
              <a:spcAft>
                <a:spcPts val="300"/>
              </a:spcAft>
              <a:defRPr sz="1100" b="1">
                <a:solidFill>
                  <a:srgbClr val="00D4FF"/>
                </a:solidFill>
                <a:latin typeface="Microsoft YaHei"/>
              </a:defRPr>
            </a:pPr>
            <a:r>
              <a:t>宿舍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核心功能 = 休息生活</a:t>
            </a:r>
          </a:p>
          <a:p>
            <a:pPr>
              <a:spcAft>
                <a:spcPts val="300"/>
              </a:spcAft>
              <a:defRPr sz="1100" b="0">
                <a:solidFill>
                  <a:srgbClr val="FF6B35"/>
                </a:solidFill>
                <a:latin typeface="Microsoft YaHei"/>
              </a:defRPr>
            </a:pPr>
            <a:r>
              <a:t>昼夜模式严格区分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昼间45dB日常活动 / 夜间40dB保障睡眠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6B35"/>
                </a:solidFill>
                <a:latin typeface="Microsoft YaHei"/>
              </a:defRPr>
            </a:pPr>
            <a:r>
              <a:t>结论：纯算法无法解读上述业务逻辑 → 只能机械判定数值高低 → 业务规则将场景需求转化为可量化可执行的阈值规则 → 从根源上提升预警精度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备选验证：Orange Outliers 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LOF 局部离群因子 + 孤立森林 — 基于无监督学习的对比基准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🍊  Orange Outliers 模块配置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Orange Data Mining：开源可视化数据分析平台</a:t>
            </a:r>
          </a:p>
          <a:p>
            <a:pPr>
              <a:spcAft>
                <a:spcPts val="300"/>
              </a:spcAft>
              <a:defRPr sz="1200" b="0">
                <a:solidFill>
                  <a:srgbClr val="CCD6E0"/>
                </a:solidFill>
                <a:latin typeface="Microsoft YaHei"/>
              </a:defRPr>
            </a:pPr>
            <a:r>
              <a:t>Outliers 模块提供两种核心异常检测算法：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0D4FF"/>
                </a:solidFill>
                <a:latin typeface="Microsoft YaHei"/>
              </a:defRPr>
            </a:pPr>
            <a:r>
              <a:t>LOF — 局部离群因子：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·  基于密度偏差识别异常，适合中高维数据</a:t>
            </a:r>
          </a:p>
          <a:p>
            <a:pPr>
              <a:spcAft>
                <a:spcPts val="300"/>
              </a:spcAft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  ·  计算每个样本的局部可达密度（LRD）与近邻对比</a:t>
            </a:r>
          </a:p>
          <a:p>
            <a:pPr>
              <a:spcAft>
                <a:spcPts val="300"/>
              </a:spcAft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  ·  得分 &gt; 1.5 → 判定为异常</a:t>
            </a:r>
          </a:p>
          <a:p>
            <a:pPr>
              <a:spcAft>
                <a:spcPts val="300"/>
              </a:spcAft>
              <a:defRPr sz="300" b="0">
                <a:solidFill>
                  <a:srgbClr val="7A8B9E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孤立森林：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  ·  基于随机划分树结构，计算效率高</a:t>
            </a:r>
          </a:p>
          <a:p>
            <a:pPr>
              <a:spcAft>
                <a:spcPts val="300"/>
              </a:spcAft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  ·  异常点路径短（更易被随机划分孤立），适合时间序列</a:t>
            </a:r>
          </a:p>
          <a:p>
            <a:pPr>
              <a:spcAft>
                <a:spcPts val="300"/>
              </a:spcAft>
              <a:defRPr sz="1000" b="0">
                <a:solidFill>
                  <a:srgbClr val="7A8B9E"/>
                </a:solidFill>
                <a:latin typeface="Microsoft YaHei"/>
              </a:defRPr>
            </a:pPr>
            <a:r>
              <a:t>  ·  得分接近 -1 → 异常；得分接近 1 → 正常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Microsoft YaHei"/>
              </a:defRPr>
            </a:pPr>
            <a:r>
              <a:t>📊  备选方案 vs 主方案性能对比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92240" y="1508760"/>
          <a:ext cx="52120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A24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准确率%</a:t>
                      </a:r>
                    </a:p>
                  </a:txBody>
                  <a:tcPr>
                    <a:solidFill>
                      <a:srgbClr val="A24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F1%</a:t>
                      </a:r>
                    </a:p>
                  </a:txBody>
                  <a:tcPr>
                    <a:solidFill>
                      <a:srgbClr val="A24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误报率%</a:t>
                      </a:r>
                    </a:p>
                  </a:txBody>
                  <a:tcPr>
                    <a:solidFill>
                      <a:srgbClr val="A24B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Orange LOF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72.0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61.3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22.0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Orange 孤立森林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73.5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63.8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20.5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业务规则动态阈值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88.7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86.2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CD6E0"/>
                          </a:solidFill>
                          <a:latin typeface="Microsoft YaHei"/>
                        </a:defRPr>
                      </a:pPr>
                      <a:r>
                        <a:t>5.3</a:t>
                      </a:r>
                    </a:p>
                  </a:txBody>
                  <a:tcPr>
                    <a:solidFill>
                      <a:srgbClr val="1520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★ 混合阈值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92.6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91.2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35"/>
                          </a:solidFill>
                          <a:latin typeface="Microsoft YaHei"/>
                        </a:defRPr>
                      </a:pPr>
                      <a:r>
                        <a:t>4.0</a:t>
                      </a:r>
                    </a:p>
                  </a:txBody>
                  <a:tcPr>
                    <a:solidFill>
                      <a:srgbClr val="1A2842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92240" y="2880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Microsoft YaHei"/>
              </a:defRPr>
            </a:pPr>
            <a:r>
              <a:t>结论：业务规则模型全面优于纯算法，验证"业务规则 &gt; 算法"是适合校园噪声场景的正确技术路线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75C"/>
                </a:solidFill>
                <a:latin typeface="Microsoft YaHei"/>
              </a:defRPr>
            </a:pPr>
            <a:r>
              <a:t>⚠  研究局限（客观分析）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475C"/>
                </a:solidFill>
                <a:latin typeface="Microsoft YaHei"/>
              </a:defRPr>
            </a:pPr>
            <a:r>
              <a:t>数据集局限：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142条样本有限；极端场景（考试周/暴雨/节假日）不足5条，泛化能力待提升</a:t>
            </a:r>
          </a:p>
          <a:p>
            <a:pPr>
              <a:spcAft>
                <a:spcPts val="300"/>
              </a:spcAft>
              <a:defRPr sz="1200" b="1">
                <a:solidFill>
                  <a:srgbClr val="FF475C"/>
                </a:solidFill>
                <a:latin typeface="Microsoft YaHei"/>
              </a:defRPr>
            </a:pPr>
            <a:r>
              <a:t>业务规则局限：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仅"功能区+时段"二维约束，未加入噪声持续时间/噪声类型等关键维度</a:t>
            </a:r>
          </a:p>
          <a:p>
            <a:pPr>
              <a:spcAft>
                <a:spcPts val="300"/>
              </a:spcAft>
              <a:defRPr sz="1200" b="1">
                <a:solidFill>
                  <a:srgbClr val="FF475C"/>
                </a:solidFill>
                <a:latin typeface="Microsoft YaHei"/>
              </a:defRPr>
            </a:pPr>
            <a:r>
              <a:t>模型局限：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触发条件仅3类，未区分功能区差异化触发灵敏度；阈值切换平滑性不足</a:t>
            </a:r>
          </a:p>
          <a:p>
            <a:pPr>
              <a:spcAft>
                <a:spcPts val="300"/>
              </a:spcAft>
              <a:defRPr sz="1200" b="1">
                <a:solidFill>
                  <a:srgbClr val="FF475C"/>
                </a:solidFill>
                <a:latin typeface="Microsoft YaHei"/>
              </a:defRPr>
            </a:pPr>
            <a:r>
              <a:t>工具局限：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可视化仅基础图表；未实现异常原因自动标注、实时预警推送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Microsoft YaHei"/>
              </a:defRPr>
            </a:pPr>
            <a:r>
              <a:t>✅  改进方向（可落地、可验证）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77639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扩充数据集：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300+条，补充极端场景，引入多监测点（3-4点/区）</a:t>
            </a:r>
          </a:p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精细化规则：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加入噪声持续时间（≥10秒）、噪声类型识别（音频特征）</a:t>
            </a:r>
          </a:p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优化混合模型：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差异化触发灵敏度，平滑过渡机制，逻辑回归优化参数</a:t>
            </a:r>
          </a:p>
          <a:p>
            <a:pPr>
              <a:spcAft>
                <a:spcPts val="300"/>
              </a:spcAft>
              <a:defRPr sz="1200" b="1">
                <a:solidFill>
                  <a:srgbClr val="00E676"/>
                </a:solidFill>
                <a:latin typeface="Microsoft YaHei"/>
              </a:defRPr>
            </a:pPr>
            <a:r>
              <a:t>深化工具应用：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自动标注异常原因，开发实时预警推送，融合Orange优势</a:t>
            </a:r>
          </a:p>
          <a:p>
            <a:pPr>
              <a:spcAft>
                <a:spcPts val="300"/>
              </a:spcAft>
              <a:defRPr sz="1200" b="1">
                <a:solidFill>
                  <a:srgbClr val="A24BFF"/>
                </a:solidFill>
                <a:latin typeface="Microsoft YaHei"/>
              </a:defRPr>
            </a:pPr>
            <a:r>
              <a:t>深度学习升级：</a:t>
            </a:r>
          </a:p>
          <a:p>
            <a:pPr>
              <a:spcAft>
                <a:spcPts val="300"/>
              </a:spcAft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引入CNN/LSTM结合音频特征识别噪声类型，提升精度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2286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011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研究总结与核心成果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4项核心成果 × 完整逻辑闭环 × 可落地技术方案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868680"/>
            <a:ext cx="1005840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A5568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155680" cy="128016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54864" cy="128016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704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📊  成果一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1704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构建了科学规范的校园噪声数据集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361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覆盖图书馆/食堂/操场/宿舍四大功能区，142条有效记录（预处理后137条）；明确了各功能区噪声统计特征（图书馆均值48.3dB、操场标准差9.5dB）；建立了"场景适配"的人工标注标准（一致性&gt;98%）；完全符合100-150条基础数据集的设计要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14600"/>
            <a:ext cx="11155680" cy="128016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54864" cy="1280160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87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  <a:latin typeface="Microsoft YaHei"/>
              </a:defRPr>
            </a:pPr>
            <a:r>
              <a:t>🎯  成果二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58775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突破了传统固定阈值的刚性局限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5351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聚焦"动态阈值设计"核心难点，设计了业务规则动态阈值、统计自适应阈值、混合阈值三种模型；成功解决了"图书馆&gt;50dB算异常，操场&gt;70dB算异常"的场景适配难题；验证了动态阈值对校园噪声时空异质性的适配能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11155680" cy="128016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54864" cy="12801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050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  <a:latin typeface="Microsoft YaHei"/>
              </a:defRPr>
            </a:pPr>
            <a:r>
              <a:t>⭐  成果三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00507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量化验证了"业务规则 &gt; 算法"的核心理念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7083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混合阈值模型准确率92.6%、F1分数91.2%、误报率4.0%，较固定阈值准确率提升14.6pp、误报率降低60.7%；通过控制变量实验精准量化：业务规则贡献约70%性能提升，算法优化仅贡献约30%；形成"理论分析→实验验证→量化结论"的完整逻辑闭环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49240"/>
            <a:ext cx="11155680" cy="1280160"/>
          </a:xfrm>
          <a:prstGeom prst="roundRect">
            <a:avLst>
              <a:gd name="adj" fmla="val 5000"/>
            </a:avLst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5349240"/>
            <a:ext cx="54864" cy="1280160"/>
          </a:xfrm>
          <a:prstGeom prst="roundRect">
            <a:avLst>
              <a:gd name="adj" fmla="val 50000"/>
            </a:avLst>
          </a:prstGeom>
          <a:solidFill>
            <a:srgbClr val="A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422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4BFF"/>
                </a:solidFill>
                <a:latin typeface="Microsoft YaHei"/>
              </a:defRPr>
            </a:pPr>
            <a:r>
              <a:t>🛠  成果四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42239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形成了可落地、可复用的完整技术方案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78815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E0"/>
                </a:solidFill>
                <a:latin typeface="Microsoft YaHei"/>
              </a:defRPr>
            </a:pPr>
            <a:r>
              <a:t>基于Python（Pandas+Matplotlib+NumPy）核心工具 + Orange（Outliers模块）备选验证；高效完成"数据预处理→阈值计算→异常检测→可视化输出"全流程；代码约80行，结构清晰，替换CSV即可适配新数据集；为校园噪声管理提供了科学的技术支撑。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45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  谢  聆  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Microsoft YaHei"/>
              </a:defRPr>
            </a:pPr>
            <a:r>
              <a:t>校园噪音分贝预警员系统 —— 结题汇报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  <a:latin typeface="Microsoft YaHei"/>
              </a:defRPr>
            </a:pPr>
            <a:r>
              <a:t>142条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有效数据记录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Microsoft YaHei"/>
              </a:defRPr>
            </a:pPr>
            <a:r>
              <a:t>4大功能区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图书馆·食堂·操场·宿舍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Microsoft YaHei"/>
              </a:defRPr>
            </a:pPr>
            <a:r>
              <a:t>3种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动态阈值模型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35"/>
                </a:solidFill>
                <a:latin typeface="Microsoft YaHei"/>
              </a:defRPr>
            </a:pPr>
            <a:r>
              <a:t>92.6%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最佳准确率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24BFF"/>
                </a:solidFill>
                <a:latin typeface="Microsoft YaHei"/>
              </a:defRPr>
            </a:pPr>
            <a:r>
              <a:t>91.2%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F1综合得分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Microsoft YaHei"/>
              </a:defRPr>
            </a:pPr>
            <a:r>
              <a:t>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8B9E"/>
                </a:solidFill>
                <a:latin typeface="Microsoft YaHei"/>
              </a:defRPr>
            </a:pPr>
            <a:r>
              <a:t>最低误报率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"业务规则 &gt; 算法" — 场景适配是校园噪声精准预警的核心支撑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8B9E"/>
                </a:solidFill>
                <a:latin typeface="Microsoft YaHei"/>
              </a:defRPr>
            </a:pPr>
            <a:r>
              <a:t>研究工具：Python (Pandas + Matplotlib + NumPy)  +  Orange (Outliers)   |   142条数据   |   4大功能区   |   2026年6月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